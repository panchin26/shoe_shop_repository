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0" r:id="rId1"/>
  </p:sldMasterIdLst>
  <p:sldIdLst>
    <p:sldId id="256" r:id="rId2"/>
    <p:sldId id="257" r:id="rId3"/>
    <p:sldId id="258" r:id="rId4"/>
    <p:sldId id="259" r:id="rId5"/>
    <p:sldId id="262" r:id="rId6"/>
    <p:sldId id="264" r:id="rId7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39" autoAdjust="0"/>
  </p:normalViewPr>
  <p:slideViewPr>
    <p:cSldViewPr snapToGrid="0" showGuides="1">
      <p:cViewPr varScale="1">
        <p:scale>
          <a:sx n="108" d="100"/>
          <a:sy n="108" d="100"/>
        </p:scale>
        <p:origin x="-636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pPr>
              <a:defRPr/>
            </a:pPr>
            <a:fld id="{1160EA64-D806-43AC-9DF2-F8C432F32B4C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133726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60EA64-D806-43AC-9DF2-F8C432F32B4C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3699151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60EA64-D806-43AC-9DF2-F8C432F32B4C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2005882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60EA64-D806-43AC-9DF2-F8C432F32B4C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6874606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60EA64-D806-43AC-9DF2-F8C432F32B4C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3716222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60EA64-D806-43AC-9DF2-F8C432F32B4C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5534926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60EA64-D806-43AC-9DF2-F8C432F32B4C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1535692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60EA64-D806-43AC-9DF2-F8C432F32B4C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8955696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60EA64-D806-43AC-9DF2-F8C432F32B4C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4579537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60EA64-D806-43AC-9DF2-F8C432F32B4C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1234360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60EA64-D806-43AC-9DF2-F8C432F32B4C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0323778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60EA64-D806-43AC-9DF2-F8C432F32B4C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193788787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60EA64-D806-43AC-9DF2-F8C432F32B4C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2362286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60EA64-D806-43AC-9DF2-F8C432F32B4C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5658351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60EA64-D806-43AC-9DF2-F8C432F32B4C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6927727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60EA64-D806-43AC-9DF2-F8C432F32B4C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4308315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60EA64-D806-43AC-9DF2-F8C432F32B4C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0945777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160EA64-D806-43AC-9DF2-F8C432F32B4C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869632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  <p:sldLayoutId id="2147483863" r:id="rId13"/>
    <p:sldLayoutId id="2147483864" r:id="rId14"/>
    <p:sldLayoutId id="2147483865" r:id="rId15"/>
    <p:sldLayoutId id="2147483866" r:id="rId16"/>
    <p:sldLayoutId id="2147483867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184529377"/>
              </p:ext>
            </p:extLst>
          </p:nvPr>
        </p:nvGraphicFramePr>
        <p:xfrm>
          <a:off x="6347792" y="4918148"/>
          <a:ext cx="5844208" cy="14917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7108"/>
                <a:gridCol w="2947100"/>
              </a:tblGrid>
              <a:tr h="1491728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400" dirty="0" smtClean="0">
                          <a:solidFill>
                            <a:schemeClr val="bg1"/>
                          </a:solidFill>
                          <a:latin typeface="Arial Black" panose="020B0A04020102020204"/>
                          <a:cs typeface="Times New Roman" panose="02020603050405020304"/>
                        </a:rPr>
                        <a:t>Выполнил:</a:t>
                      </a:r>
                      <a:endParaRPr lang="en-US" sz="1400" dirty="0" smtClean="0">
                        <a:solidFill>
                          <a:schemeClr val="bg1"/>
                        </a:solidFill>
                        <a:latin typeface="Arial Black" panose="020B0A04020102020204"/>
                        <a:cs typeface="Times New Roman" panose="02020603050405020304"/>
                      </a:endParaRPr>
                    </a:p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400" baseline="0" dirty="0" err="1" smtClean="0">
                          <a:solidFill>
                            <a:schemeClr val="bg1"/>
                          </a:solidFill>
                          <a:latin typeface="Arial Black" panose="020B0A04020102020204"/>
                          <a:cs typeface="Times New Roman" panose="02020603050405020304"/>
                        </a:rPr>
                        <a:t>Панчин</a:t>
                      </a:r>
                      <a:r>
                        <a:rPr lang="ru-RU" sz="1400" baseline="0" dirty="0" smtClean="0">
                          <a:solidFill>
                            <a:schemeClr val="bg1"/>
                          </a:solidFill>
                          <a:latin typeface="Arial Black" panose="020B0A04020102020204"/>
                          <a:cs typeface="Times New Roman" panose="02020603050405020304"/>
                        </a:rPr>
                        <a:t> </a:t>
                      </a:r>
                      <a:r>
                        <a:rPr lang="ru-RU" sz="1400" baseline="0" dirty="0" smtClean="0">
                          <a:solidFill>
                            <a:schemeClr val="bg1"/>
                          </a:solidFill>
                          <a:latin typeface="Arial Black" panose="020B0A04020102020204"/>
                          <a:cs typeface="Times New Roman" panose="02020603050405020304"/>
                        </a:rPr>
                        <a:t>Кирилл Дмитриевич</a:t>
                      </a:r>
                      <a:endParaRPr lang="ru-RU" sz="1400" dirty="0">
                        <a:solidFill>
                          <a:schemeClr val="bg1"/>
                        </a:solidFill>
                        <a:latin typeface="Arial Black" panose="020B0A04020102020204"/>
                        <a:cs typeface="Times New Roman" panose="02020603050405020304"/>
                      </a:endParaRPr>
                    </a:p>
                    <a:p>
                      <a:pPr algn="l">
                        <a:defRPr/>
                      </a:pPr>
                      <a:r>
                        <a:rPr lang="ru-RU" sz="1400" dirty="0">
                          <a:solidFill>
                            <a:schemeClr val="bg1"/>
                          </a:solidFill>
                          <a:latin typeface="Arial Black" panose="020B0A04020102020204"/>
                          <a:cs typeface="Times New Roman" panose="02020603050405020304"/>
                        </a:rPr>
                        <a:t>Студент группы ИС-22А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 Black" panose="020B0A04020102020204"/>
                          <a:cs typeface="Times New Roman" panose="02020603050405020304"/>
                        </a:rPr>
                        <a:t>   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  <a:latin typeface="Arial Black" panose="020B0A04020102020204"/>
                          <a:cs typeface="Times New Roman" panose="02020603050405020304"/>
                        </a:rPr>
                        <a:t>Руководитель: </a:t>
                      </a:r>
                      <a:endParaRPr lang="en-US" sz="1400" dirty="0" smtClean="0">
                        <a:solidFill>
                          <a:schemeClr val="bg1"/>
                        </a:solidFill>
                        <a:latin typeface="Arial Black" panose="020B0A04020102020204"/>
                        <a:cs typeface="Times New Roman" panose="02020603050405020304"/>
                      </a:endParaRPr>
                    </a:p>
                    <a:p>
                      <a:pPr algn="l">
                        <a:defRPr/>
                      </a:pPr>
                      <a:r>
                        <a:rPr lang="ru-RU" sz="1400" dirty="0" smtClean="0">
                          <a:solidFill>
                            <a:schemeClr val="bg1"/>
                          </a:solidFill>
                          <a:latin typeface="Arial Black" panose="020B0A04020102020204"/>
                          <a:cs typeface="Times New Roman" panose="02020603050405020304"/>
                        </a:rPr>
                        <a:t>Фомичева 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  <a:latin typeface="Arial Black" panose="020B0A04020102020204"/>
                          <a:cs typeface="Times New Roman" panose="02020603050405020304"/>
                        </a:rPr>
                        <a:t>Ольга Владиславовна</a:t>
                      </a: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Прямоугольник 17"/>
          <p:cNvSpPr/>
          <p:nvPr/>
        </p:nvSpPr>
        <p:spPr bwMode="auto">
          <a:xfrm>
            <a:off x="4854135" y="6251558"/>
            <a:ext cx="31334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  <a:defRPr/>
            </a:pPr>
            <a:r>
              <a:rPr lang="ru-RU" dirty="0">
                <a:solidFill>
                  <a:schemeClr val="bg1"/>
                </a:solidFill>
                <a:latin typeface="Arial Black" panose="020B0A04020102020204"/>
                <a:ea typeface="Times New Roman" panose="02020603050405020304"/>
              </a:rPr>
              <a:t>Заволжье</a:t>
            </a:r>
            <a:r>
              <a:rPr lang="en-US" dirty="0">
                <a:solidFill>
                  <a:schemeClr val="bg1"/>
                </a:solidFill>
                <a:latin typeface="Arial Black" panose="020B0A04020102020204"/>
                <a:ea typeface="Times New Roman" panose="02020603050405020304"/>
              </a:rPr>
              <a:t> </a:t>
            </a:r>
            <a:r>
              <a:rPr lang="ru-RU" dirty="0">
                <a:solidFill>
                  <a:schemeClr val="bg1"/>
                </a:solidFill>
                <a:latin typeface="Arial Black" panose="020B0A04020102020204"/>
                <a:ea typeface="Times New Roman" panose="02020603050405020304"/>
              </a:rPr>
              <a:t>2025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0" name="Прямоугольник 19"/>
          <p:cNvSpPr/>
          <p:nvPr/>
        </p:nvSpPr>
        <p:spPr bwMode="auto">
          <a:xfrm>
            <a:off x="2397124" y="675634"/>
            <a:ext cx="74168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ru-RU" sz="2000" dirty="0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</a:rPr>
              <a:t>Министерство образования и науки Нижегородской области</a:t>
            </a:r>
            <a:endParaRPr lang="ru-RU" dirty="0">
              <a:solidFill>
                <a:schemeClr val="bg1"/>
              </a:solidFill>
              <a:latin typeface="Times New Roman" panose="02020603050405020304"/>
              <a:ea typeface="Times New Roman" panose="02020603050405020304"/>
            </a:endParaRPr>
          </a:p>
          <a:p>
            <a:pPr algn="ctr">
              <a:spcAft>
                <a:spcPts val="0"/>
              </a:spcAft>
              <a:defRPr/>
            </a:pPr>
            <a:r>
              <a:rPr lang="ru-RU" sz="2000" dirty="0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</a:rPr>
              <a:t>Государственное бюджетное профессиональное </a:t>
            </a:r>
            <a:br>
              <a:rPr lang="ru-RU" sz="2000" dirty="0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</a:rPr>
            </a:br>
            <a:r>
              <a:rPr lang="ru-RU" sz="2000" dirty="0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</a:rPr>
              <a:t>образовательное учреждение</a:t>
            </a:r>
            <a:endParaRPr lang="ru-RU" dirty="0">
              <a:solidFill>
                <a:schemeClr val="bg1"/>
              </a:solidFill>
              <a:latin typeface="Times New Roman" panose="02020603050405020304"/>
              <a:ea typeface="Times New Roman" panose="02020603050405020304"/>
            </a:endParaRPr>
          </a:p>
          <a:p>
            <a:pPr algn="ctr">
              <a:spcAft>
                <a:spcPts val="0"/>
              </a:spcAft>
              <a:defRPr/>
            </a:pPr>
            <a:r>
              <a:rPr lang="ru-RU" sz="2000" dirty="0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</a:rPr>
              <a:t> «Заволжский автомоторный техникум»</a:t>
            </a:r>
            <a:endParaRPr lang="ru-RU" dirty="0">
              <a:solidFill>
                <a:schemeClr val="bg1"/>
              </a:solidFill>
              <a:latin typeface="Times New Roman" panose="02020603050405020304"/>
              <a:ea typeface="Times New Roman" panose="02020603050405020304"/>
            </a:endParaRPr>
          </a:p>
          <a:p>
            <a:pPr algn="ctr">
              <a:spcAft>
                <a:spcPts val="0"/>
              </a:spcAft>
              <a:defRPr/>
            </a:pPr>
            <a:r>
              <a:rPr lang="ru-RU" sz="2000" dirty="0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</a:rPr>
              <a:t>(ГБПОУ ЗАМТ)</a:t>
            </a:r>
            <a:endParaRPr lang="ru-RU" dirty="0">
              <a:solidFill>
                <a:schemeClr val="bg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16624" y="2619072"/>
            <a:ext cx="96197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dirty="0">
                <a:solidFill>
                  <a:schemeClr val="bg1"/>
                </a:solidFill>
                <a:latin typeface="Arial Black" panose="020B0A04020102020204"/>
                <a:cs typeface="Times New Roman" panose="02020603050405020304"/>
              </a:rPr>
              <a:t>Практика</a:t>
            </a:r>
            <a:r>
              <a:rPr lang="en-US" sz="600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/>
            </a:r>
            <a:br>
              <a:rPr lang="en-US" sz="6000" dirty="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</a:br>
            <a:r>
              <a:rPr lang="ru-RU" b="1" dirty="0">
                <a:solidFill>
                  <a:schemeClr val="bg1"/>
                </a:solidFill>
                <a:latin typeface="Arial Black" panose="020B0A04020102020204"/>
                <a:cs typeface="Times New Roman" panose="02020603050405020304"/>
              </a:rPr>
              <a:t>Тема: </a:t>
            </a:r>
            <a:r>
              <a:rPr lang="ru-RU" dirty="0">
                <a:solidFill>
                  <a:schemeClr val="bg1"/>
                </a:solidFill>
                <a:latin typeface="Arial Black" panose="020B0A04020102020204"/>
              </a:rPr>
              <a:t>Разработка </a:t>
            </a:r>
            <a:r>
              <a:rPr lang="ru-RU" dirty="0" err="1">
                <a:solidFill>
                  <a:schemeClr val="bg1"/>
                </a:solidFill>
                <a:latin typeface="Arial Black" panose="020B0A04020102020204"/>
              </a:rPr>
              <a:t>Android</a:t>
            </a:r>
            <a:r>
              <a:rPr lang="ru-RU" dirty="0">
                <a:solidFill>
                  <a:schemeClr val="bg1"/>
                </a:solidFill>
                <a:latin typeface="Arial Black" panose="020B0A04020102020204"/>
              </a:rPr>
              <a:t>-приложения интернет-магазина обуви «</a:t>
            </a:r>
            <a:r>
              <a:rPr lang="en-US" dirty="0" err="1">
                <a:solidFill>
                  <a:schemeClr val="bg1"/>
                </a:solidFill>
                <a:latin typeface="Arial Black" panose="020B0A04020102020204"/>
              </a:rPr>
              <a:t>ShoeStore</a:t>
            </a:r>
            <a:r>
              <a:rPr lang="ru-RU" dirty="0">
                <a:solidFill>
                  <a:schemeClr val="bg1"/>
                </a:solidFill>
                <a:latin typeface="Arial Black" panose="020B0A04020102020204"/>
              </a:rPr>
              <a:t>» с использованием </a:t>
            </a:r>
            <a:r>
              <a:rPr lang="ru-RU" dirty="0" err="1">
                <a:solidFill>
                  <a:schemeClr val="bg1"/>
                </a:solidFill>
                <a:latin typeface="Arial Black" panose="020B0A04020102020204"/>
              </a:rPr>
              <a:t>Jetpack</a:t>
            </a:r>
            <a:r>
              <a:rPr lang="ru-RU" dirty="0">
                <a:solidFill>
                  <a:schemeClr val="bg1"/>
                </a:solidFill>
                <a:latin typeface="Arial Black" panose="020B0A04020102020204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Arial Black" panose="020B0A04020102020204"/>
              </a:rPr>
              <a:t>Compose</a:t>
            </a:r>
            <a:r>
              <a:rPr lang="en-US" dirty="0">
                <a:solidFill>
                  <a:schemeClr val="bg1"/>
                </a:solidFill>
                <a:latin typeface="Arial Black" panose="020B0A04020102020204"/>
              </a:rPr>
              <a:t> </a:t>
            </a:r>
            <a:r>
              <a:rPr lang="ru-RU" dirty="0">
                <a:solidFill>
                  <a:schemeClr val="bg1"/>
                </a:solidFill>
                <a:latin typeface="Arial Black" panose="020B0A04020102020204"/>
              </a:rPr>
              <a:t>на базе </a:t>
            </a:r>
            <a:r>
              <a:rPr lang="en-US" dirty="0">
                <a:solidFill>
                  <a:schemeClr val="bg1"/>
                </a:solidFill>
                <a:latin typeface="Arial Black" panose="020B0A04020102020204"/>
              </a:rPr>
              <a:t>Android Studio</a:t>
            </a: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53029" y="643666"/>
            <a:ext cx="906850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Arial Black" panose="020B0A04020102020204"/>
              </a:rPr>
              <a:t>Диаграмма вариантов использования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11332566" y="5886897"/>
            <a:ext cx="712922" cy="83099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4800" dirty="0">
                <a:solidFill>
                  <a:schemeClr val="bg1"/>
                </a:solidFill>
                <a:latin typeface="Arial Black" panose="020B0A04020102020204"/>
              </a:rPr>
              <a:t>2</a:t>
            </a:r>
          </a:p>
        </p:txBody>
      </p:sp>
      <p:pic>
        <p:nvPicPr>
          <p:cNvPr id="1026" name="Picture 2" descr="D:\Panchin\Диаграмма использования-андроид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21172" y="1647287"/>
            <a:ext cx="6051480" cy="420838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 bwMode="auto">
          <a:xfrm>
            <a:off x="1987643" y="668679"/>
            <a:ext cx="95515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ru-RU" sz="3200" b="0" i="0" dirty="0">
                <a:latin typeface="Arial Black" panose="020B0A04020102020204"/>
              </a:rPr>
              <a:t>АРХИТЕКТУРНЫЕ РЕШЕНИЯ</a:t>
            </a:r>
            <a:endParaRPr sz="3200" dirty="0"/>
          </a:p>
        </p:txBody>
      </p:sp>
      <p:sp>
        <p:nvSpPr>
          <p:cNvPr id="10" name="TextBox 9"/>
          <p:cNvSpPr txBox="1"/>
          <p:nvPr/>
        </p:nvSpPr>
        <p:spPr bwMode="auto">
          <a:xfrm>
            <a:off x="1162975" y="1750153"/>
            <a:ext cx="9987378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ru-RU" sz="2000" dirty="0" smtClean="0">
                <a:latin typeface="Arial Black" panose="020B0A04020102020204"/>
              </a:rPr>
              <a:t>Использована современная </a:t>
            </a:r>
            <a:r>
              <a:rPr lang="ru-RU" sz="2000" dirty="0" err="1" smtClean="0">
                <a:latin typeface="Arial Black" panose="020B0A04020102020204"/>
              </a:rPr>
              <a:t>одноактивитная</a:t>
            </a:r>
            <a:r>
              <a:rPr lang="ru-RU" sz="2000" dirty="0" smtClean="0">
                <a:latin typeface="Arial Black" panose="020B0A04020102020204"/>
              </a:rPr>
              <a:t> архитектура:</a:t>
            </a:r>
            <a:endParaRPr dirty="0" smtClean="0"/>
          </a:p>
          <a:p>
            <a:pPr algn="just">
              <a:defRPr/>
            </a:pPr>
            <a:endParaRPr lang="ru-RU" sz="2000" dirty="0" smtClean="0">
              <a:latin typeface="Arial Black" panose="020B0A04020102020204"/>
            </a:endParaRPr>
          </a:p>
          <a:p>
            <a:pPr>
              <a:defRPr/>
            </a:pPr>
            <a:r>
              <a:rPr lang="ru-RU" sz="1600" dirty="0" smtClean="0">
                <a:latin typeface="Arial Black" panose="020B0A04020102020204" pitchFamily="34" charset="0"/>
              </a:rPr>
              <a:t>• Одна </a:t>
            </a:r>
            <a:r>
              <a:rPr lang="ru-RU" sz="1600" dirty="0" err="1" smtClean="0">
                <a:latin typeface="Arial Black" panose="020B0A04020102020204" pitchFamily="34" charset="0"/>
              </a:rPr>
              <a:t>MainActivity</a:t>
            </a:r>
            <a:r>
              <a:rPr lang="ru-RU" sz="1600" dirty="0" smtClean="0">
                <a:latin typeface="Arial Black" panose="020B0A04020102020204" pitchFamily="34" charset="0"/>
              </a:rPr>
              <a:t> содержит все экраны;</a:t>
            </a:r>
            <a:endParaRPr sz="1600" dirty="0" smtClean="0">
              <a:latin typeface="Arial Black" panose="020B0A04020102020204" pitchFamily="34" charset="0"/>
            </a:endParaRPr>
          </a:p>
          <a:p>
            <a:pPr>
              <a:defRPr/>
            </a:pPr>
            <a:r>
              <a:rPr lang="ru-RU" sz="1600" dirty="0" smtClean="0">
                <a:latin typeface="Arial Black" panose="020B0A04020102020204" pitchFamily="34" charset="0"/>
              </a:rPr>
              <a:t>• Переключение экранов через </a:t>
            </a:r>
            <a:r>
              <a:rPr lang="ru-RU" sz="1600" dirty="0" err="1" smtClean="0">
                <a:latin typeface="Arial Black" panose="020B0A04020102020204" pitchFamily="34" charset="0"/>
              </a:rPr>
              <a:t>Navigation</a:t>
            </a:r>
            <a:r>
              <a:rPr lang="ru-RU" sz="1600" dirty="0" smtClean="0">
                <a:latin typeface="Arial Black" panose="020B0A04020102020204" pitchFamily="34" charset="0"/>
              </a:rPr>
              <a:t> </a:t>
            </a:r>
            <a:r>
              <a:rPr lang="ru-RU" sz="1600" dirty="0" err="1" smtClean="0">
                <a:latin typeface="Arial Black" panose="020B0A04020102020204" pitchFamily="34" charset="0"/>
              </a:rPr>
              <a:t>Compose</a:t>
            </a:r>
            <a:r>
              <a:rPr lang="ru-RU" sz="1600" dirty="0" smtClean="0">
                <a:latin typeface="Arial Black" panose="020B0A04020102020204" pitchFamily="34" charset="0"/>
              </a:rPr>
              <a:t>;</a:t>
            </a:r>
          </a:p>
          <a:p>
            <a:pPr>
              <a:defRPr/>
            </a:pPr>
            <a:r>
              <a:rPr lang="ru-RU" sz="1600" dirty="0" smtClean="0">
                <a:latin typeface="Arial Black" panose="020B0A04020102020204" pitchFamily="34" charset="0"/>
              </a:rPr>
              <a:t>• Паттерн MVVM для разделения логики и интерфейса;</a:t>
            </a:r>
            <a:endParaRPr sz="1600" dirty="0" smtClean="0">
              <a:latin typeface="Arial Black" panose="020B0A04020102020204" pitchFamily="34" charset="0"/>
            </a:endParaRPr>
          </a:p>
          <a:p>
            <a:pPr>
              <a:defRPr/>
            </a:pPr>
            <a:r>
              <a:rPr lang="ru-RU" sz="1600" dirty="0" smtClean="0">
                <a:latin typeface="Arial Black" panose="020B0A04020102020204" pitchFamily="34" charset="0"/>
              </a:rPr>
              <a:t>• </a:t>
            </a:r>
            <a:r>
              <a:rPr lang="ru-RU" sz="1600" dirty="0" err="1" smtClean="0">
                <a:latin typeface="Arial Black" panose="020B0A04020102020204" pitchFamily="34" charset="0"/>
              </a:rPr>
              <a:t>ViewModel</a:t>
            </a:r>
            <a:r>
              <a:rPr lang="ru-RU" sz="1600" dirty="0" smtClean="0">
                <a:latin typeface="Arial Black" panose="020B0A04020102020204" pitchFamily="34" charset="0"/>
              </a:rPr>
              <a:t> управляет состоянием каждого экрана;</a:t>
            </a:r>
            <a:endParaRPr sz="1600" dirty="0" smtClean="0">
              <a:latin typeface="Arial Black" panose="020B0A04020102020204" pitchFamily="34" charset="0"/>
            </a:endParaRPr>
          </a:p>
          <a:p>
            <a:pPr>
              <a:defRPr/>
            </a:pPr>
            <a:r>
              <a:rPr lang="ru-RU" sz="1600" dirty="0" smtClean="0">
                <a:latin typeface="Arial Black" panose="020B0A04020102020204" pitchFamily="34" charset="0"/>
              </a:rPr>
              <a:t>• Автоматическое обновление интерфейса при изменении данных.</a:t>
            </a:r>
            <a:endParaRPr lang="ru-RU" sz="1600" dirty="0">
              <a:latin typeface="Arial Black" panose="020B0A04020102020204" pitchFamily="34" charset="0"/>
            </a:endParaRPr>
          </a:p>
          <a:p>
            <a:pPr>
              <a:defRPr/>
            </a:pPr>
            <a:endParaRPr lang="ru-RU" sz="2000" dirty="0" smtClean="0">
              <a:latin typeface="Arial Black" panose="020B0A04020102020204"/>
            </a:endParaRPr>
          </a:p>
          <a:p>
            <a:pPr algn="just">
              <a:defRPr/>
            </a:pPr>
            <a:r>
              <a:rPr lang="ru-RU" sz="2000" b="1" dirty="0" smtClean="0">
                <a:latin typeface="Arial Black" panose="020B0A04020102020204" pitchFamily="34" charset="0"/>
              </a:rPr>
              <a:t>Преимущества:</a:t>
            </a:r>
          </a:p>
          <a:p>
            <a:pPr algn="just">
              <a:defRPr/>
            </a:pPr>
            <a:endParaRPr lang="ru-RU" sz="2000" b="1" dirty="0" smtClean="0">
              <a:latin typeface="Arial Black" panose="020B0A04020102020204" pitchFamily="34" charset="0"/>
            </a:endParaRPr>
          </a:p>
          <a:p>
            <a:pPr>
              <a:defRPr/>
            </a:pPr>
            <a:r>
              <a:rPr lang="ru-RU" sz="1600" dirty="0" smtClean="0">
                <a:latin typeface="Arial Black" panose="020B0A04020102020204"/>
              </a:rPr>
              <a:t>• </a:t>
            </a:r>
            <a:r>
              <a:rPr lang="ru-RU" sz="1600" b="1" dirty="0" smtClean="0">
                <a:latin typeface="Arial Black" panose="020B0A04020102020204" pitchFamily="34" charset="0"/>
              </a:rPr>
              <a:t>Высокая производительность - минимальные накладные расходы на переключение экранов;</a:t>
            </a:r>
            <a:br>
              <a:rPr lang="ru-RU" sz="1600" b="1" dirty="0" smtClean="0">
                <a:latin typeface="Arial Black" panose="020B0A04020102020204" pitchFamily="34" charset="0"/>
              </a:rPr>
            </a:br>
            <a:r>
              <a:rPr lang="ru-RU" sz="1600" dirty="0" smtClean="0">
                <a:latin typeface="Arial Black" panose="020B0A04020102020204"/>
              </a:rPr>
              <a:t>• </a:t>
            </a:r>
            <a:r>
              <a:rPr lang="ru-RU" sz="1600" b="1" dirty="0" smtClean="0">
                <a:latin typeface="Arial Black" panose="020B0A04020102020204" pitchFamily="34" charset="0"/>
              </a:rPr>
              <a:t>Тестируемость - бизнес-логика изолирована от UI слоя;</a:t>
            </a:r>
            <a:br>
              <a:rPr lang="ru-RU" sz="1600" b="1" dirty="0" smtClean="0">
                <a:latin typeface="Arial Black" panose="020B0A04020102020204" pitchFamily="34" charset="0"/>
              </a:rPr>
            </a:br>
            <a:r>
              <a:rPr lang="ru-RU" sz="1600" dirty="0">
                <a:latin typeface="Arial Black" panose="020B0A04020102020204"/>
              </a:rPr>
              <a:t>• </a:t>
            </a:r>
            <a:r>
              <a:rPr lang="ru-RU" sz="1600" b="1" dirty="0" smtClean="0">
                <a:latin typeface="Arial Black" panose="020B0A04020102020204" pitchFamily="34" charset="0"/>
              </a:rPr>
              <a:t>Соответствие современным рекомендациям </a:t>
            </a:r>
            <a:r>
              <a:rPr lang="ru-RU" sz="1600" b="1" dirty="0" err="1" smtClean="0">
                <a:latin typeface="Arial Black" panose="020B0A04020102020204" pitchFamily="34" charset="0"/>
              </a:rPr>
              <a:t>Google</a:t>
            </a:r>
            <a:r>
              <a:rPr lang="ru-RU" sz="1600" b="1" dirty="0" smtClean="0">
                <a:latin typeface="Arial Black" panose="020B0A04020102020204" pitchFamily="34" charset="0"/>
              </a:rPr>
              <a:t> для </a:t>
            </a:r>
            <a:r>
              <a:rPr lang="ru-RU" sz="1600" b="1" dirty="0" err="1" smtClean="0">
                <a:latin typeface="Arial Black" panose="020B0A04020102020204" pitchFamily="34" charset="0"/>
              </a:rPr>
              <a:t>Compose</a:t>
            </a:r>
            <a:r>
              <a:rPr lang="ru-RU" sz="1600" b="1" dirty="0" smtClean="0">
                <a:latin typeface="Arial Black" panose="020B0A04020102020204" pitchFamily="34" charset="0"/>
              </a:rPr>
              <a:t>-приложений;</a:t>
            </a:r>
            <a:br>
              <a:rPr lang="ru-RU" sz="1600" b="1" dirty="0" smtClean="0">
                <a:latin typeface="Arial Black" panose="020B0A04020102020204" pitchFamily="34" charset="0"/>
              </a:rPr>
            </a:br>
            <a:r>
              <a:rPr lang="ru-RU" sz="1600" dirty="0" smtClean="0">
                <a:latin typeface="Arial Black" panose="020B0A04020102020204"/>
              </a:rPr>
              <a:t>• </a:t>
            </a:r>
            <a:r>
              <a:rPr lang="ru-RU" sz="1600" b="1" dirty="0" smtClean="0">
                <a:latin typeface="Arial Black" panose="020B0A04020102020204" pitchFamily="34" charset="0"/>
              </a:rPr>
              <a:t>Масштабируемость - архитектура легко расширяется новыми функциями;</a:t>
            </a:r>
            <a:br>
              <a:rPr lang="ru-RU" sz="1600" b="1" dirty="0" smtClean="0">
                <a:latin typeface="Arial Black" panose="020B0A04020102020204" pitchFamily="34" charset="0"/>
              </a:rPr>
            </a:br>
            <a:r>
              <a:rPr lang="ru-RU" sz="1600" dirty="0" smtClean="0">
                <a:latin typeface="Arial Black" panose="020B0A04020102020204"/>
              </a:rPr>
              <a:t>• </a:t>
            </a:r>
            <a:r>
              <a:rPr lang="ru-RU" sz="1600" b="1" dirty="0" smtClean="0">
                <a:latin typeface="Arial Black" panose="020B0A04020102020204" pitchFamily="34" charset="0"/>
              </a:rPr>
              <a:t>Предсказуемое состояние</a:t>
            </a:r>
            <a:r>
              <a:rPr lang="ru-RU" sz="1600" b="1" dirty="0">
                <a:latin typeface="Arial Black" panose="020B0A04020102020204" pitchFamily="34" charset="0"/>
              </a:rPr>
              <a:t> </a:t>
            </a:r>
            <a:r>
              <a:rPr lang="ru-RU" sz="1600" b="1" dirty="0" smtClean="0">
                <a:latin typeface="Arial Black" panose="020B0A04020102020204" pitchFamily="34" charset="0"/>
              </a:rPr>
              <a:t>- централизованное управление данными через </a:t>
            </a:r>
            <a:r>
              <a:rPr lang="ru-RU" sz="1600" b="1" dirty="0" err="1" smtClean="0">
                <a:latin typeface="Arial Black" panose="020B0A04020102020204" pitchFamily="34" charset="0"/>
              </a:rPr>
              <a:t>ViewModel</a:t>
            </a:r>
            <a:r>
              <a:rPr lang="ru-RU" sz="1600" b="1" dirty="0" smtClean="0">
                <a:latin typeface="Arial Black" panose="020B0A04020102020204" pitchFamily="34" charset="0"/>
              </a:rPr>
              <a:t>.</a:t>
            </a:r>
            <a:endParaRPr sz="1600" b="1" dirty="0">
              <a:latin typeface="Arial Black" panose="020B0A040201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11332566" y="5886897"/>
            <a:ext cx="712922" cy="83099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4800" dirty="0">
                <a:solidFill>
                  <a:schemeClr val="bg1"/>
                </a:solidFill>
                <a:latin typeface="Arial Black" panose="020B0A04020102020204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 bwMode="auto">
          <a:xfrm>
            <a:off x="1197253" y="663112"/>
            <a:ext cx="9551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3600" dirty="0">
                <a:latin typeface="Arial Black" panose="020B0A04020102020204"/>
              </a:rPr>
              <a:t>Программные </a:t>
            </a:r>
            <a:r>
              <a:rPr lang="ru-RU" sz="3600" dirty="0" smtClean="0">
                <a:latin typeface="Arial Black" panose="020B0A04020102020204"/>
              </a:rPr>
              <a:t>модули</a:t>
            </a:r>
            <a:endParaRPr lang="ru-RU" sz="3600" dirty="0">
              <a:latin typeface="Arial Black" panose="020B0A04020102020204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11332566" y="5886897"/>
            <a:ext cx="712922" cy="83099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dirty="0">
                <a:solidFill>
                  <a:schemeClr val="bg1"/>
                </a:solidFill>
                <a:latin typeface="Arial Black" panose="020B0A04020102020204"/>
              </a:rPr>
              <a:t>4</a:t>
            </a:r>
            <a:endParaRPr lang="ru-RU" sz="4800" dirty="0">
              <a:solidFill>
                <a:schemeClr val="bg1"/>
              </a:solidFill>
              <a:latin typeface="Arial Black" panose="020B0A04020102020204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86" y="1753327"/>
            <a:ext cx="1389210" cy="29074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358" y="1753325"/>
            <a:ext cx="1388578" cy="290745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5024" y="1753324"/>
            <a:ext cx="1368432" cy="290745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169" y="1753324"/>
            <a:ext cx="1383085" cy="2907453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9967" y="1748648"/>
            <a:ext cx="1376509" cy="2912130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9552" y="1748648"/>
            <a:ext cx="1380401" cy="2912130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7487" y="1753323"/>
            <a:ext cx="1392769" cy="2907454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7774" y="1748648"/>
            <a:ext cx="1380401" cy="29121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 bwMode="auto">
          <a:xfrm>
            <a:off x="1964162" y="668679"/>
            <a:ext cx="8049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ru-RU" sz="3200" b="0" i="0" dirty="0">
                <a:latin typeface="Arial Black" panose="020B0A04020102020204"/>
              </a:rPr>
              <a:t>ИСПОЛЬЗУЕМЫЕ БИБЛИОТЕКИ</a:t>
            </a:r>
            <a:endParaRPr sz="3200" dirty="0"/>
          </a:p>
        </p:txBody>
      </p:sp>
      <p:sp>
        <p:nvSpPr>
          <p:cNvPr id="10" name="TextBox 9"/>
          <p:cNvSpPr txBox="1"/>
          <p:nvPr/>
        </p:nvSpPr>
        <p:spPr bwMode="auto">
          <a:xfrm>
            <a:off x="1207973" y="2726697"/>
            <a:ext cx="8539391" cy="3170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2000" dirty="0">
                <a:latin typeface="Arial Black" panose="020B0A04020102020204"/>
              </a:rPr>
              <a:t>Основной технологический стек:</a:t>
            </a:r>
            <a:endParaRPr dirty="0"/>
          </a:p>
          <a:p>
            <a:pPr algn="just">
              <a:defRPr/>
            </a:pPr>
            <a:endParaRPr lang="ru-RU" sz="2000" dirty="0">
              <a:latin typeface="Arial Black" panose="020B0A04020102020204"/>
            </a:endParaRPr>
          </a:p>
          <a:p>
            <a:pPr algn="just">
              <a:defRPr/>
            </a:pPr>
            <a:r>
              <a:rPr lang="ru-RU" sz="2000" dirty="0">
                <a:latin typeface="Arial Black" panose="020B0A04020102020204"/>
              </a:rPr>
              <a:t>•</a:t>
            </a:r>
            <a:r>
              <a:rPr lang="en-US" sz="2000" dirty="0">
                <a:latin typeface="Arial Black" panose="020B0A04020102020204"/>
              </a:rPr>
              <a:t>Jetpack Compose 2024.09.00 (</a:t>
            </a:r>
            <a:r>
              <a:rPr lang="ru-RU" sz="2000" dirty="0">
                <a:latin typeface="Arial Black" panose="020B0A04020102020204"/>
              </a:rPr>
              <a:t>современный интерфейс)</a:t>
            </a:r>
            <a:endParaRPr dirty="0"/>
          </a:p>
          <a:p>
            <a:pPr algn="just">
              <a:defRPr/>
            </a:pPr>
            <a:r>
              <a:rPr lang="ru-RU" sz="2000" dirty="0">
                <a:latin typeface="Arial Black" panose="020B0A04020102020204"/>
              </a:rPr>
              <a:t>•</a:t>
            </a:r>
            <a:r>
              <a:rPr lang="en-US" sz="2000" dirty="0">
                <a:latin typeface="Arial Black" panose="020B0A04020102020204"/>
              </a:rPr>
              <a:t>Navigation Compose 2.9.5 (</a:t>
            </a:r>
            <a:r>
              <a:rPr lang="ru-RU" sz="2000" dirty="0">
                <a:latin typeface="Arial Black" panose="020B0A04020102020204"/>
              </a:rPr>
              <a:t>переключение экранов)</a:t>
            </a:r>
            <a:endParaRPr dirty="0"/>
          </a:p>
          <a:p>
            <a:pPr algn="just">
              <a:defRPr/>
            </a:pPr>
            <a:r>
              <a:rPr lang="ru-RU" sz="2000" dirty="0">
                <a:latin typeface="Arial Black" panose="020B0A04020102020204"/>
              </a:rPr>
              <a:t>•</a:t>
            </a:r>
            <a:r>
              <a:rPr lang="en-US" sz="2000" dirty="0">
                <a:latin typeface="Arial Black" panose="020B0A04020102020204"/>
              </a:rPr>
              <a:t>Material Design 3 (</a:t>
            </a:r>
            <a:r>
              <a:rPr lang="ru-RU" sz="2000" dirty="0">
                <a:latin typeface="Arial Black" panose="020B0A04020102020204"/>
              </a:rPr>
              <a:t>готовые компоненты)</a:t>
            </a:r>
            <a:endParaRPr dirty="0"/>
          </a:p>
          <a:p>
            <a:pPr algn="just">
              <a:defRPr/>
            </a:pPr>
            <a:r>
              <a:rPr lang="ru-RU" sz="2000" dirty="0">
                <a:latin typeface="Arial Black" panose="020B0A04020102020204"/>
              </a:rPr>
              <a:t>•</a:t>
            </a:r>
            <a:r>
              <a:rPr lang="en-US" sz="2000" dirty="0">
                <a:latin typeface="Arial Black" panose="020B0A04020102020204"/>
              </a:rPr>
              <a:t>Lifecycle Runtime KTX (</a:t>
            </a:r>
            <a:r>
              <a:rPr lang="ru-RU" sz="2000" dirty="0">
                <a:latin typeface="Arial Black" panose="020B0A04020102020204"/>
              </a:rPr>
              <a:t>управление жизненным циклом)</a:t>
            </a:r>
            <a:endParaRPr dirty="0"/>
          </a:p>
          <a:p>
            <a:pPr algn="just">
              <a:defRPr/>
            </a:pPr>
            <a:r>
              <a:rPr lang="ru-RU" sz="2000" dirty="0">
                <a:latin typeface="Arial Black" panose="020B0A04020102020204"/>
              </a:rPr>
              <a:t>•</a:t>
            </a:r>
            <a:r>
              <a:rPr lang="en-US" sz="2000" dirty="0">
                <a:latin typeface="Arial Black" panose="020B0A04020102020204"/>
              </a:rPr>
              <a:t>Activity Compose (</a:t>
            </a:r>
            <a:r>
              <a:rPr lang="ru-RU" sz="2000" dirty="0">
                <a:latin typeface="Arial Black" panose="020B0A04020102020204"/>
              </a:rPr>
              <a:t>интеграция с </a:t>
            </a:r>
            <a:r>
              <a:rPr lang="en-US" sz="2000" dirty="0">
                <a:latin typeface="Arial Black" panose="020B0A04020102020204"/>
              </a:rPr>
              <a:t>Activity)</a:t>
            </a:r>
            <a:endParaRPr dirty="0"/>
          </a:p>
          <a:p>
            <a:pPr algn="just">
              <a:defRPr/>
            </a:pPr>
            <a:r>
              <a:rPr lang="en-US" sz="2000" dirty="0">
                <a:latin typeface="Arial Black" panose="020B0A04020102020204"/>
              </a:rPr>
              <a:t>•Retrofit 3.0.0 (</a:t>
            </a:r>
            <a:r>
              <a:rPr lang="ru-RU" sz="2000" dirty="0">
                <a:latin typeface="Arial Black" panose="020B0A04020102020204"/>
              </a:rPr>
              <a:t>готовность к серверу)</a:t>
            </a:r>
            <a:endParaRPr dirty="0"/>
          </a:p>
          <a:p>
            <a:pPr algn="just">
              <a:defRPr/>
            </a:pPr>
            <a:endParaRPr lang="ru-RU" sz="2000" dirty="0">
              <a:latin typeface="Arial Black" panose="020B0A04020102020204"/>
            </a:endParaRPr>
          </a:p>
          <a:p>
            <a:pPr algn="just">
              <a:defRPr/>
            </a:pPr>
            <a:r>
              <a:rPr lang="ru-RU" sz="2000" dirty="0">
                <a:latin typeface="Arial Black" panose="020B0A04020102020204"/>
              </a:rPr>
              <a:t>Версия </a:t>
            </a:r>
            <a:r>
              <a:rPr lang="en-US" sz="2000" dirty="0" err="1">
                <a:latin typeface="Arial Black" panose="020B0A04020102020204"/>
              </a:rPr>
              <a:t>Kotlin</a:t>
            </a:r>
            <a:r>
              <a:rPr lang="en-US" sz="2000" dirty="0">
                <a:latin typeface="Arial Black" panose="020B0A04020102020204"/>
              </a:rPr>
              <a:t>: 2.0.21, AGP: 8.13.2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 bwMode="auto">
          <a:xfrm>
            <a:off x="11332566" y="5886897"/>
            <a:ext cx="712922" cy="83099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4800" dirty="0">
                <a:solidFill>
                  <a:schemeClr val="bg1"/>
                </a:solidFill>
                <a:latin typeface="Arial Black" panose="020B0A04020102020204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 bwMode="auto">
          <a:xfrm>
            <a:off x="1930555" y="723362"/>
            <a:ext cx="49274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ru-RU" sz="3200" b="0" i="0" dirty="0">
                <a:latin typeface="Arial Black" panose="020B0A04020102020204"/>
              </a:rPr>
              <a:t>ЗАКЛЮЧЕНИЕ</a:t>
            </a:r>
            <a:endParaRPr sz="3200" dirty="0"/>
          </a:p>
        </p:txBody>
      </p:sp>
      <p:sp>
        <p:nvSpPr>
          <p:cNvPr id="10" name="TextBox 9"/>
          <p:cNvSpPr txBox="1"/>
          <p:nvPr/>
        </p:nvSpPr>
        <p:spPr bwMode="auto">
          <a:xfrm>
            <a:off x="1151281" y="2267926"/>
            <a:ext cx="884691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ru-RU" dirty="0">
                <a:latin typeface="Arial Black" panose="020B0A04020102020204"/>
              </a:rPr>
              <a:t>Разработано полнофункциональное мобильное приложение магазина обуви </a:t>
            </a:r>
            <a:r>
              <a:rPr lang="ru-RU" dirty="0" err="1">
                <a:latin typeface="Arial Black" panose="020B0A04020102020204"/>
              </a:rPr>
              <a:t>ShoeStore</a:t>
            </a:r>
            <a:r>
              <a:rPr lang="ru-RU" dirty="0">
                <a:latin typeface="Arial Black" panose="020B0A04020102020204"/>
              </a:rPr>
              <a:t>:</a:t>
            </a:r>
            <a:endParaRPr dirty="0"/>
          </a:p>
          <a:p>
            <a:pPr algn="just">
              <a:defRPr/>
            </a:pPr>
            <a:endParaRPr lang="ru-RU" dirty="0">
              <a:latin typeface="Arial Black" panose="020B0A04020102020204"/>
            </a:endParaRPr>
          </a:p>
          <a:p>
            <a:pPr algn="just">
              <a:defRPr/>
            </a:pPr>
            <a:r>
              <a:rPr lang="ru-RU" dirty="0">
                <a:latin typeface="Arial Black" panose="020B0A04020102020204"/>
              </a:rPr>
              <a:t>✓ 13 экранов полностью реализованы и протестированы</a:t>
            </a:r>
            <a:endParaRPr dirty="0"/>
          </a:p>
          <a:p>
            <a:pPr algn="just">
              <a:defRPr/>
            </a:pPr>
            <a:r>
              <a:rPr lang="ru-RU" dirty="0">
                <a:latin typeface="Arial Black" panose="020B0A04020102020204"/>
              </a:rPr>
              <a:t>✓ Современная </a:t>
            </a:r>
            <a:r>
              <a:rPr lang="ru-RU" dirty="0" err="1">
                <a:latin typeface="Arial Black" panose="020B0A04020102020204"/>
              </a:rPr>
              <a:t>одноактивитная</a:t>
            </a:r>
            <a:r>
              <a:rPr lang="ru-RU" dirty="0">
                <a:latin typeface="Arial Black" panose="020B0A04020102020204"/>
              </a:rPr>
              <a:t> архитектура MVVM</a:t>
            </a:r>
            <a:endParaRPr dirty="0"/>
          </a:p>
          <a:p>
            <a:pPr algn="just">
              <a:defRPr/>
            </a:pPr>
            <a:r>
              <a:rPr lang="ru-RU" dirty="0">
                <a:latin typeface="Arial Black" panose="020B0A04020102020204"/>
              </a:rPr>
              <a:t>✓ Полная система авторизации и восстановления пароля</a:t>
            </a:r>
            <a:endParaRPr dirty="0"/>
          </a:p>
          <a:p>
            <a:pPr algn="just">
              <a:defRPr/>
            </a:pPr>
            <a:r>
              <a:rPr lang="ru-RU" dirty="0">
                <a:latin typeface="Arial Black" panose="020B0A04020102020204"/>
              </a:rPr>
              <a:t>✓ Удобная навигация (</a:t>
            </a:r>
            <a:r>
              <a:rPr lang="ru-RU" dirty="0" err="1">
                <a:latin typeface="Arial Black" panose="020B0A04020102020204"/>
              </a:rPr>
              <a:t>Bottom</a:t>
            </a:r>
            <a:r>
              <a:rPr lang="ru-RU" dirty="0">
                <a:latin typeface="Arial Black" panose="020B0A04020102020204"/>
              </a:rPr>
              <a:t> </a:t>
            </a:r>
            <a:r>
              <a:rPr lang="ru-RU" dirty="0" err="1">
                <a:latin typeface="Arial Black" panose="020B0A04020102020204"/>
              </a:rPr>
              <a:t>Navigation</a:t>
            </a:r>
            <a:r>
              <a:rPr lang="ru-RU" dirty="0">
                <a:latin typeface="Arial Black" panose="020B0A04020102020204"/>
              </a:rPr>
              <a:t> + глубокие маршруты)</a:t>
            </a:r>
            <a:endParaRPr dirty="0"/>
          </a:p>
          <a:p>
            <a:pPr algn="just">
              <a:defRPr/>
            </a:pPr>
            <a:r>
              <a:rPr lang="ru-RU" dirty="0">
                <a:latin typeface="Arial Black" panose="020B0A04020102020204"/>
              </a:rPr>
              <a:t>✓ Каталог товаров, избранное, профиль пользователя</a:t>
            </a:r>
            <a:endParaRPr dirty="0"/>
          </a:p>
          <a:p>
            <a:pPr algn="just">
              <a:defRPr/>
            </a:pPr>
            <a:endParaRPr lang="ru-RU" dirty="0">
              <a:latin typeface="Arial Black" panose="020B0A04020102020204"/>
            </a:endParaRPr>
          </a:p>
          <a:p>
            <a:pPr algn="ctr">
              <a:defRPr/>
            </a:pPr>
            <a:r>
              <a:rPr lang="ru-RU" dirty="0">
                <a:latin typeface="Arial Black" panose="020B0A04020102020204"/>
              </a:rPr>
              <a:t> ТЕХНИЧЕСКИЕ ХАРАКТЕРИСТИКИ</a:t>
            </a:r>
            <a:endParaRPr dirty="0"/>
          </a:p>
          <a:p>
            <a:pPr algn="just">
              <a:defRPr/>
            </a:pPr>
            <a:r>
              <a:rPr lang="ru-RU" dirty="0">
                <a:latin typeface="Arial Black" panose="020B0A04020102020204"/>
              </a:rPr>
              <a:t>• </a:t>
            </a:r>
            <a:r>
              <a:rPr lang="ru-RU" dirty="0" err="1">
                <a:latin typeface="Arial Black" panose="020B0A04020102020204"/>
              </a:rPr>
              <a:t>Jetpack</a:t>
            </a:r>
            <a:r>
              <a:rPr lang="ru-RU" dirty="0">
                <a:latin typeface="Arial Black" panose="020B0A04020102020204"/>
              </a:rPr>
              <a:t> </a:t>
            </a:r>
            <a:r>
              <a:rPr lang="ru-RU" dirty="0" err="1">
                <a:latin typeface="Arial Black" panose="020B0A04020102020204"/>
              </a:rPr>
              <a:t>Compose</a:t>
            </a:r>
            <a:r>
              <a:rPr lang="ru-RU" dirty="0">
                <a:latin typeface="Arial Black" panose="020B0A04020102020204"/>
              </a:rPr>
              <a:t> 2024.09.00 (</a:t>
            </a:r>
            <a:r>
              <a:rPr lang="ru-RU" dirty="0" err="1">
                <a:latin typeface="Arial Black" panose="020B0A04020102020204"/>
              </a:rPr>
              <a:t>Material</a:t>
            </a:r>
            <a:r>
              <a:rPr lang="ru-RU" dirty="0">
                <a:latin typeface="Arial Black" panose="020B0A04020102020204"/>
              </a:rPr>
              <a:t> </a:t>
            </a:r>
            <a:r>
              <a:rPr lang="ru-RU" dirty="0" err="1">
                <a:latin typeface="Arial Black" panose="020B0A04020102020204"/>
              </a:rPr>
              <a:t>Design</a:t>
            </a:r>
            <a:r>
              <a:rPr lang="ru-RU" dirty="0">
                <a:latin typeface="Arial Black" panose="020B0A04020102020204"/>
              </a:rPr>
              <a:t> 3)</a:t>
            </a:r>
            <a:endParaRPr dirty="0"/>
          </a:p>
          <a:p>
            <a:pPr algn="just">
              <a:defRPr/>
            </a:pPr>
            <a:r>
              <a:rPr lang="ru-RU" dirty="0">
                <a:latin typeface="Arial Black" panose="020B0A04020102020204"/>
              </a:rPr>
              <a:t>• </a:t>
            </a:r>
            <a:r>
              <a:rPr lang="ru-RU" dirty="0" err="1">
                <a:latin typeface="Arial Black" panose="020B0A04020102020204"/>
              </a:rPr>
              <a:t>Kotlin</a:t>
            </a:r>
            <a:r>
              <a:rPr lang="ru-RU" dirty="0">
                <a:latin typeface="Arial Black" panose="020B0A04020102020204"/>
              </a:rPr>
              <a:t> 2.0.21, AGP 8.13.2</a:t>
            </a:r>
            <a:endParaRPr dirty="0"/>
          </a:p>
          <a:p>
            <a:pPr algn="just">
              <a:defRPr/>
            </a:pPr>
            <a:r>
              <a:rPr lang="ru-RU" dirty="0">
                <a:latin typeface="Arial Black" panose="020B0A04020102020204"/>
              </a:rPr>
              <a:t>• Готовность к интеграции с сервером (</a:t>
            </a:r>
            <a:r>
              <a:rPr lang="ru-RU" dirty="0" err="1">
                <a:latin typeface="Arial Black" panose="020B0A04020102020204"/>
              </a:rPr>
              <a:t>Retrofit</a:t>
            </a:r>
            <a:r>
              <a:rPr lang="ru-RU" dirty="0">
                <a:latin typeface="Arial Black" panose="020B0A04020102020204"/>
              </a:rPr>
              <a:t> 3.0.0)</a:t>
            </a:r>
            <a:endParaRPr dirty="0"/>
          </a:p>
          <a:p>
            <a:pPr algn="just">
              <a:defRPr/>
            </a:pPr>
            <a:endParaRPr lang="ru-RU" dirty="0">
              <a:latin typeface="Arial Black" panose="020B0A04020102020204"/>
            </a:endParaRPr>
          </a:p>
          <a:p>
            <a:pPr algn="just">
              <a:defRPr/>
            </a:pPr>
            <a:r>
              <a:rPr lang="ru-RU" dirty="0">
                <a:latin typeface="Arial Black" panose="020B0A04020102020204"/>
              </a:rPr>
              <a:t>ПРИЛОЖЕНИЕ ГОТОВО К ИСПОЛЬЗОВАНИЮ И РАСШИРЕНИЮ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 bwMode="auto">
          <a:xfrm>
            <a:off x="11332566" y="5886897"/>
            <a:ext cx="712922" cy="83099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4800" dirty="0">
                <a:solidFill>
                  <a:schemeClr val="bg1"/>
                </a:solidFill>
                <a:latin typeface="Arial Black" panose="020B0A04020102020204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Справедливость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Контур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87</TotalTime>
  <Words>237</Words>
  <Application>Microsoft Office PowerPoint</Application>
  <PresentationFormat>Произвольный</PresentationFormat>
  <Paragraphs>56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Контур</vt:lpstr>
      <vt:lpstr>Слайд 1</vt:lpstr>
      <vt:lpstr>Слайд 2</vt:lpstr>
      <vt:lpstr>Слайд 3</vt:lpstr>
      <vt:lpstr>Слайд 4</vt:lpstr>
      <vt:lpstr>Слайд 5</vt:lpstr>
      <vt:lpstr>Слайд 6</vt:lpstr>
    </vt:vector>
  </TitlesOfParts>
  <Company>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android242</cp:lastModifiedBy>
  <cp:revision>86</cp:revision>
  <dcterms:created xsi:type="dcterms:W3CDTF">2022-06-15T10:15:00Z</dcterms:created>
  <dcterms:modified xsi:type="dcterms:W3CDTF">2025-12-20T06:41:29Z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BCDF5DFD58CF49C7A92A94BF9E0D055C_12</vt:lpwstr>
  </property>
  <property fmtid="{D5CDD505-2E9C-101B-9397-08002B2CF9AE}" pid="3" name="KSOProductBuildVer">
    <vt:lpwstr>1049-12.2.0.23196</vt:lpwstr>
  </property>
</Properties>
</file>